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9" r:id="rId7"/>
    <p:sldId id="270" r:id="rId8"/>
    <p:sldId id="260" r:id="rId9"/>
    <p:sldId id="262" r:id="rId10"/>
    <p:sldId id="261" r:id="rId11"/>
    <p:sldId id="271" r:id="rId12"/>
    <p:sldId id="272" r:id="rId13"/>
    <p:sldId id="273" r:id="rId14"/>
    <p:sldId id="266" r:id="rId15"/>
    <p:sldId id="267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2824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dirty="0"/>
              <a:t>&lt;</a:t>
            </a:r>
            <a:r>
              <a:rPr lang="en-IN" sz="4900" dirty="0"/>
              <a:t>Sentimental Analysis of Twitter Data</a:t>
            </a:r>
            <a:r>
              <a:rPr lang="en-IN" dirty="0"/>
              <a:t>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&lt;Mahi Agrawal&gt;</a:t>
            </a:r>
          </a:p>
          <a:p>
            <a:r>
              <a:rPr lang="en-IN" dirty="0"/>
              <a:t>&lt;23fe10cse00254&gt;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&lt;Dr. Mayank Namdev&gt;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E9BD3A-DD40-7C2B-BF74-A623D33A5B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8468"/>
            <a:ext cx="426751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Review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C19751-F710-8811-BF0F-82CC4D76B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715282"/>
            <a:ext cx="9877926" cy="4572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Social media platforms have become a major source of real-time public opinions and reactions.</a:t>
            </a:r>
          </a:p>
          <a:p>
            <a:r>
              <a:rPr lang="en-US" sz="1800" dirty="0"/>
              <a:t>Among them, </a:t>
            </a:r>
            <a:r>
              <a:rPr lang="en-US" sz="1800" b="1" dirty="0"/>
              <a:t>Twitter (X)</a:t>
            </a:r>
            <a:r>
              <a:rPr lang="en-US" sz="1800" dirty="0"/>
              <a:t> is widely used for expressing thoughts in domains such as:</a:t>
            </a:r>
          </a:p>
          <a:p>
            <a:pPr lvl="1"/>
            <a:r>
              <a:rPr lang="en-US" sz="1800" dirty="0"/>
              <a:t>Politics</a:t>
            </a:r>
          </a:p>
          <a:p>
            <a:pPr lvl="1"/>
            <a:r>
              <a:rPr lang="en-US" sz="1800" dirty="0"/>
              <a:t>Healthcare</a:t>
            </a:r>
          </a:p>
          <a:p>
            <a:pPr lvl="1"/>
            <a:r>
              <a:rPr lang="en-US" sz="1800" dirty="0"/>
              <a:t>Finance</a:t>
            </a:r>
          </a:p>
          <a:p>
            <a:pPr lvl="1"/>
            <a:r>
              <a:rPr lang="en-US" sz="1800" dirty="0"/>
              <a:t>Social issues</a:t>
            </a:r>
          </a:p>
          <a:p>
            <a:r>
              <a:rPr lang="en-US" sz="1800" dirty="0"/>
              <a:t>Sentiment Analysis is an NLP technique used to determine the emotional polarity of text as:</a:t>
            </a:r>
          </a:p>
          <a:p>
            <a:pPr lvl="1"/>
            <a:r>
              <a:rPr lang="en-US" sz="1800" b="1" dirty="0"/>
              <a:t>Positive</a:t>
            </a:r>
            <a:endParaRPr lang="en-US" sz="1800" dirty="0"/>
          </a:p>
          <a:p>
            <a:pPr lvl="1"/>
            <a:r>
              <a:rPr lang="en-US" sz="1800" b="1" dirty="0"/>
              <a:t>Neutral</a:t>
            </a:r>
            <a:endParaRPr lang="en-US" sz="1800" dirty="0"/>
          </a:p>
          <a:p>
            <a:pPr lvl="1"/>
            <a:r>
              <a:rPr lang="en-US" sz="1800" b="1" dirty="0"/>
              <a:t>Negative</a:t>
            </a:r>
            <a:endParaRPr lang="en-US" sz="1800" dirty="0"/>
          </a:p>
          <a:p>
            <a:r>
              <a:rPr lang="en-US" sz="1800" b="1" dirty="0"/>
              <a:t>Importance</a:t>
            </a:r>
          </a:p>
          <a:p>
            <a:r>
              <a:rPr lang="en-US" sz="1800" dirty="0"/>
              <a:t>Helps in decision-making by understanding public mood and opinion trends from large-scale Twitter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3324BE6-F4C3-5F67-9998-1BF323A943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358" y="320970"/>
            <a:ext cx="10904621" cy="6216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Motivation</a:t>
            </a:r>
          </a:p>
          <a:p>
            <a:r>
              <a:rPr lang="en-US" sz="1600" dirty="0"/>
              <a:t>Twitter generates massive volumes of data daily, making manual sentiment tracking impossible.</a:t>
            </a:r>
          </a:p>
          <a:p>
            <a:r>
              <a:rPr lang="en-US" sz="1600" dirty="0"/>
              <a:t>Sentiment analysis can provide automated monitoring of:</a:t>
            </a:r>
          </a:p>
          <a:p>
            <a:pPr lvl="1"/>
            <a:r>
              <a:rPr lang="en-US" sz="1600" dirty="0"/>
              <a:t>customer feedback</a:t>
            </a:r>
          </a:p>
          <a:p>
            <a:pPr lvl="1"/>
            <a:r>
              <a:rPr lang="en-US" sz="1600" dirty="0"/>
              <a:t>brand reputation</a:t>
            </a:r>
          </a:p>
          <a:p>
            <a:pPr lvl="1"/>
            <a:r>
              <a:rPr lang="en-US" sz="1600" dirty="0"/>
              <a:t>political sentiment</a:t>
            </a:r>
          </a:p>
          <a:p>
            <a:pPr lvl="1"/>
            <a:r>
              <a:rPr lang="en-US" sz="1600" dirty="0"/>
              <a:t>financial trends</a:t>
            </a:r>
          </a:p>
          <a:p>
            <a:pPr marL="0" indent="0">
              <a:buNone/>
            </a:pPr>
            <a:r>
              <a:rPr lang="en-US" sz="1600" b="1" dirty="0"/>
              <a:t>Challenges in Twitter Sentiment Analysis</a:t>
            </a:r>
          </a:p>
          <a:p>
            <a:r>
              <a:rPr lang="en-US" sz="1600" dirty="0"/>
              <a:t>Tweets are short and informal.</a:t>
            </a:r>
          </a:p>
          <a:p>
            <a:r>
              <a:rPr lang="en-US" sz="1600" dirty="0"/>
              <a:t>Tweets contain:</a:t>
            </a:r>
          </a:p>
          <a:p>
            <a:pPr lvl="1"/>
            <a:r>
              <a:rPr lang="en-US" sz="1600" dirty="0"/>
              <a:t>slang, abbreviations</a:t>
            </a:r>
          </a:p>
          <a:p>
            <a:pPr lvl="1"/>
            <a:r>
              <a:rPr lang="en-US" sz="1600" dirty="0"/>
              <a:t>emojis and hashtags</a:t>
            </a:r>
          </a:p>
          <a:p>
            <a:pPr lvl="1"/>
            <a:r>
              <a:rPr lang="en-US" sz="1600" dirty="0"/>
              <a:t>sarcasm and irony</a:t>
            </a:r>
          </a:p>
          <a:p>
            <a:r>
              <a:rPr lang="en-US" sz="1600" dirty="0"/>
              <a:t>These characteristics make sentiment interpretation difficult for traditional models.</a:t>
            </a:r>
          </a:p>
          <a:p>
            <a:pPr marL="0" indent="0">
              <a:buNone/>
            </a:pPr>
            <a:r>
              <a:rPr lang="en-US" sz="1600" b="1" dirty="0"/>
              <a:t>Need</a:t>
            </a:r>
          </a:p>
          <a:p>
            <a:r>
              <a:rPr lang="en-US" sz="1600" dirty="0"/>
              <a:t>A framework is required that provides:</a:t>
            </a:r>
          </a:p>
          <a:p>
            <a:pPr lvl="1"/>
            <a:r>
              <a:rPr lang="en-US" sz="1600" dirty="0"/>
              <a:t>high accuracy sentiment prediction</a:t>
            </a:r>
          </a:p>
          <a:p>
            <a:pPr lvl="1"/>
            <a:r>
              <a:rPr lang="en-US" sz="1600" dirty="0"/>
              <a:t>contextual understanding</a:t>
            </a:r>
          </a:p>
          <a:p>
            <a:pPr lvl="1"/>
            <a:r>
              <a:rPr lang="en-US" sz="1600" dirty="0"/>
              <a:t>explainability of model decisions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680A26-FCF0-3D30-C2A9-C8E11015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-978568"/>
            <a:ext cx="878305" cy="108451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200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656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Early Approaches</a:t>
            </a:r>
          </a:p>
          <a:p>
            <a:r>
              <a:rPr lang="en-IN" sz="1800" dirty="0"/>
              <a:t>Initial sentiment analysis studies used:</a:t>
            </a:r>
          </a:p>
          <a:p>
            <a:pPr lvl="1"/>
            <a:r>
              <a:rPr lang="en-IN" sz="1800" b="1" dirty="0"/>
              <a:t>Lexicon-based methods</a:t>
            </a:r>
            <a:endParaRPr lang="en-IN" sz="1800" dirty="0"/>
          </a:p>
          <a:p>
            <a:pPr lvl="1"/>
            <a:r>
              <a:rPr lang="en-IN" sz="1800" b="1" dirty="0"/>
              <a:t>Traditional Machine Learning models</a:t>
            </a:r>
            <a:endParaRPr lang="en-IN" sz="1800" dirty="0"/>
          </a:p>
          <a:p>
            <a:r>
              <a:rPr lang="en-IN" sz="1800" dirty="0"/>
              <a:t>Common algorithms:</a:t>
            </a:r>
          </a:p>
          <a:p>
            <a:pPr lvl="1"/>
            <a:r>
              <a:rPr lang="en-IN" sz="1800" dirty="0"/>
              <a:t>Naïve Bayes</a:t>
            </a:r>
          </a:p>
          <a:p>
            <a:pPr lvl="1"/>
            <a:r>
              <a:rPr lang="en-IN" sz="1800" dirty="0"/>
              <a:t>Logistic Regression</a:t>
            </a:r>
          </a:p>
          <a:p>
            <a:pPr lvl="1"/>
            <a:r>
              <a:rPr lang="en-IN" sz="1800" dirty="0"/>
              <a:t>Support Vector Machine (SVM)</a:t>
            </a:r>
          </a:p>
          <a:p>
            <a:pPr marL="0" indent="0">
              <a:buNone/>
            </a:pPr>
            <a:r>
              <a:rPr lang="en-IN" sz="1800" b="1" dirty="0"/>
              <a:t>Key Limitation</a:t>
            </a:r>
          </a:p>
          <a:p>
            <a:r>
              <a:rPr lang="en-IN" sz="1800" dirty="0"/>
              <a:t>These methods are computationally efficient but fail to capture:</a:t>
            </a:r>
          </a:p>
          <a:p>
            <a:pPr lvl="1"/>
            <a:r>
              <a:rPr lang="en-IN" sz="1800" dirty="0"/>
              <a:t>contextual meaning</a:t>
            </a:r>
          </a:p>
          <a:p>
            <a:pPr lvl="1"/>
            <a:r>
              <a:rPr lang="en-IN" sz="1800" dirty="0"/>
              <a:t>semantic relationships</a:t>
            </a:r>
          </a:p>
          <a:p>
            <a:pPr lvl="1"/>
            <a:r>
              <a:rPr lang="en-IN" sz="1800" dirty="0"/>
              <a:t>hidden sentiment in noisy tweets</a:t>
            </a:r>
          </a:p>
          <a:p>
            <a:pPr marL="0" indent="0">
              <a:buNone/>
            </a:pPr>
            <a:r>
              <a:rPr lang="en-IN" sz="1800" dirty="0"/>
              <a:t>Reference Insight:</a:t>
            </a:r>
          </a:p>
          <a:p>
            <a:r>
              <a:rPr lang="en-IN" sz="1800" dirty="0"/>
              <a:t>Qi and Shabrina highlighted that lexicon + ML fails for noisy short tweets.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90BA-5025-EDD2-1428-302CDA82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1502188" y="-433138"/>
            <a:ext cx="112295" cy="192505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9B43C-C8BC-B2D2-3B9D-6F5393CBA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653" y="7828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Deep Learning Expansion</a:t>
            </a:r>
          </a:p>
          <a:p>
            <a:r>
              <a:rPr lang="en-US" dirty="0"/>
              <a:t>With the availability of larger Twitter datasets, deep learning models became popular.</a:t>
            </a:r>
          </a:p>
          <a:p>
            <a:r>
              <a:rPr lang="en-US" dirty="0"/>
              <a:t>Models like </a:t>
            </a:r>
            <a:r>
              <a:rPr lang="en-US" b="1" dirty="0"/>
              <a:t>LSTM</a:t>
            </a:r>
            <a:r>
              <a:rPr lang="en-US" dirty="0"/>
              <a:t> were used to capture sequential word dependencies.</a:t>
            </a:r>
          </a:p>
          <a:p>
            <a:r>
              <a:rPr lang="en-US" dirty="0"/>
              <a:t>Neelakandan et al. proposed DLMNN with extensive preprocessing to improve accuracy.</a:t>
            </a:r>
          </a:p>
          <a:p>
            <a:pPr marL="0" indent="0">
              <a:buNone/>
            </a:pPr>
            <a:r>
              <a:rPr lang="en-US" b="1" dirty="0"/>
              <a:t>Key Limitation</a:t>
            </a:r>
          </a:p>
          <a:p>
            <a:r>
              <a:rPr lang="en-US" dirty="0"/>
              <a:t>Deep learning models improve performance but still struggle with:</a:t>
            </a:r>
          </a:p>
          <a:p>
            <a:pPr lvl="1"/>
            <a:r>
              <a:rPr lang="en-US" dirty="0"/>
              <a:t>long-range dependencies</a:t>
            </a:r>
          </a:p>
          <a:p>
            <a:pPr lvl="1"/>
            <a:r>
              <a:rPr lang="en-US" dirty="0"/>
              <a:t>ambiguous expressions</a:t>
            </a:r>
          </a:p>
          <a:p>
            <a:pPr lvl="1"/>
            <a:r>
              <a:rPr lang="en-US" dirty="0"/>
              <a:t>computational cost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82290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1B34-3D0F-E2A9-0394-14E9D3EF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883919" y="-1941095"/>
            <a:ext cx="319239" cy="449179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B7127-DACD-E036-B405-ADD6C2D0A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79" y="87914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Hybrid and Transformer-Based Approaches</a:t>
            </a:r>
          </a:p>
          <a:p>
            <a:r>
              <a:rPr lang="en-IN" sz="1800" dirty="0"/>
              <a:t>Hybrid models combine feature extraction + learning algorithms:</a:t>
            </a:r>
          </a:p>
          <a:p>
            <a:pPr lvl="1"/>
            <a:r>
              <a:rPr lang="en-IN" sz="1800" dirty="0"/>
              <a:t>TF-IDF + SVM</a:t>
            </a:r>
          </a:p>
          <a:p>
            <a:pPr lvl="1"/>
            <a:r>
              <a:rPr lang="en-IN" sz="1800" dirty="0"/>
              <a:t>Word2Vec + LSTM</a:t>
            </a:r>
          </a:p>
          <a:p>
            <a:r>
              <a:rPr lang="en-IN" sz="1800" dirty="0"/>
              <a:t>These improve accuracy compared to baseline ML models.</a:t>
            </a:r>
          </a:p>
          <a:p>
            <a:pPr marL="0" indent="0">
              <a:buNone/>
            </a:pPr>
            <a:r>
              <a:rPr lang="en-IN" sz="1800" b="1" dirty="0"/>
              <a:t>Transformers</a:t>
            </a:r>
          </a:p>
          <a:p>
            <a:r>
              <a:rPr lang="en-IN" sz="1800" dirty="0"/>
              <a:t>Transformer models like BERT provide strong contextual understanding.</a:t>
            </a:r>
          </a:p>
          <a:p>
            <a:pPr marL="0" indent="0">
              <a:buNone/>
            </a:pPr>
            <a:r>
              <a:rPr lang="en-IN" sz="1800" b="1" dirty="0" err="1"/>
              <a:t>BERTweet</a:t>
            </a:r>
            <a:r>
              <a:rPr lang="en-IN" sz="1800" dirty="0"/>
              <a:t>, pretrained on large-scale Twitter data, performs better than Word2Vec-based models.</a:t>
            </a:r>
          </a:p>
          <a:p>
            <a:r>
              <a:rPr lang="en-IN" sz="1800" b="1" dirty="0"/>
              <a:t>Research Gap Identified</a:t>
            </a:r>
          </a:p>
          <a:p>
            <a:r>
              <a:rPr lang="en-IN" sz="1800" dirty="0"/>
              <a:t>Most existing models focus mainly on accuracy.</a:t>
            </a:r>
          </a:p>
          <a:p>
            <a:r>
              <a:rPr lang="en-IN" sz="1800" dirty="0"/>
              <a:t>Transformer models behave like </a:t>
            </a:r>
            <a:r>
              <a:rPr lang="en-IN" sz="1800" b="1" dirty="0"/>
              <a:t>black-box systems</a:t>
            </a:r>
            <a:r>
              <a:rPr lang="en-IN" sz="1800" dirty="0"/>
              <a:t>, lacking interpretability.</a:t>
            </a:r>
          </a:p>
          <a:p>
            <a:pPr marL="0" indent="0">
              <a:buNone/>
            </a:pPr>
            <a:r>
              <a:rPr lang="en-IN" sz="1800" b="1" dirty="0"/>
              <a:t>Need</a:t>
            </a:r>
          </a:p>
          <a:p>
            <a:r>
              <a:rPr lang="en-IN" sz="1800" dirty="0"/>
              <a:t>A framework combining:</a:t>
            </a:r>
          </a:p>
          <a:p>
            <a:pPr lvl="1"/>
            <a:r>
              <a:rPr lang="en-IN" sz="1800" dirty="0"/>
              <a:t>high performance sentiment classification (</a:t>
            </a:r>
            <a:r>
              <a:rPr lang="en-IN" sz="1800" dirty="0" err="1"/>
              <a:t>BERTweet</a:t>
            </a:r>
            <a:r>
              <a:rPr lang="en-IN" sz="1800" dirty="0"/>
              <a:t>)</a:t>
            </a:r>
          </a:p>
          <a:p>
            <a:pPr lvl="1"/>
            <a:r>
              <a:rPr lang="en-IN" sz="1800" dirty="0"/>
              <a:t>hybrid model comparisons</a:t>
            </a:r>
          </a:p>
          <a:p>
            <a:pPr lvl="1"/>
            <a:r>
              <a:rPr lang="en-IN" sz="1800" dirty="0"/>
              <a:t>explainable AI (SHAP) for transparency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09006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Twitter sentiment classification is difficult because tweets are short, noisy, and context-dependent, containing slang, emojis, and sarcasm. Existing models either lack contextual understanding or lack interpretability, creating a need for an accurate and explainable sentiment classification framework.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853" y="80562"/>
            <a:ext cx="10515600" cy="1325563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7E2A24-9B9D-E238-A0E2-5A2D3EDB14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5149"/>
            <a:ext cx="10647947" cy="555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/>
              <a:t>To perform </a:t>
            </a:r>
            <a:r>
              <a:rPr lang="en-IN" sz="2400" b="1" dirty="0"/>
              <a:t>three-class sentiment classification</a:t>
            </a:r>
            <a:r>
              <a:rPr lang="en-IN" sz="2400" dirty="0"/>
              <a:t> on Twitter data (Positive, Neutral, Negative).</a:t>
            </a:r>
          </a:p>
          <a:p>
            <a:r>
              <a:rPr lang="en-IN" sz="2400" dirty="0"/>
              <a:t>To evaluate </a:t>
            </a:r>
            <a:r>
              <a:rPr lang="en-IN" sz="2400" b="1" dirty="0"/>
              <a:t>traditional machine learning models</a:t>
            </a:r>
            <a:r>
              <a:rPr lang="en-IN" sz="2400" dirty="0"/>
              <a:t> (Linear Regression, Naïve Bayes, SVM) using TF-IDF features.</a:t>
            </a:r>
          </a:p>
          <a:p>
            <a:r>
              <a:rPr lang="en-IN" sz="2400" dirty="0"/>
              <a:t>To implement and compare </a:t>
            </a:r>
            <a:r>
              <a:rPr lang="en-IN" sz="2400" b="1" dirty="0"/>
              <a:t>hybrid sentiment models</a:t>
            </a:r>
            <a:r>
              <a:rPr lang="en-IN" sz="2400" dirty="0"/>
              <a:t>:</a:t>
            </a:r>
          </a:p>
          <a:p>
            <a:pPr lvl="1"/>
            <a:r>
              <a:rPr lang="en-IN" dirty="0"/>
              <a:t>TF-IDF + SVM</a:t>
            </a:r>
          </a:p>
          <a:p>
            <a:pPr lvl="1"/>
            <a:r>
              <a:rPr lang="en-IN" dirty="0"/>
              <a:t>Word2Vec + LSTM</a:t>
            </a:r>
          </a:p>
          <a:p>
            <a:r>
              <a:rPr lang="en-IN" sz="2400" dirty="0"/>
              <a:t>To fine-tune </a:t>
            </a:r>
            <a:r>
              <a:rPr lang="en-IN" sz="2400" b="1" dirty="0" err="1"/>
              <a:t>BERTweet</a:t>
            </a:r>
            <a:r>
              <a:rPr lang="en-IN" sz="2400" dirty="0"/>
              <a:t>, a transformer model pretrained on Twitter corpus, for improved sentiment classification.</a:t>
            </a:r>
          </a:p>
          <a:p>
            <a:r>
              <a:rPr lang="en-IN" sz="2400" dirty="0"/>
              <a:t>To integrate </a:t>
            </a:r>
            <a:r>
              <a:rPr lang="en-IN" sz="2400" b="1" dirty="0"/>
              <a:t>Explainable AI (XAI)</a:t>
            </a:r>
            <a:r>
              <a:rPr lang="en-IN" sz="2400" dirty="0"/>
              <a:t> using </a:t>
            </a:r>
            <a:r>
              <a:rPr lang="en-IN" sz="2400" b="1" dirty="0"/>
              <a:t>SHAP</a:t>
            </a:r>
            <a:r>
              <a:rPr lang="en-IN" sz="2400" dirty="0"/>
              <a:t> to provide token-level interpretability.</a:t>
            </a:r>
          </a:p>
          <a:p>
            <a:r>
              <a:rPr lang="en-IN" sz="2400" dirty="0"/>
              <a:t>To compare all models using standard evaluation metrics: </a:t>
            </a:r>
            <a:r>
              <a:rPr lang="en-IN" sz="2400" b="1" dirty="0"/>
              <a:t>Accuracy, Precision, Recall</a:t>
            </a:r>
            <a:r>
              <a:rPr lang="en-IN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5" y="44242"/>
            <a:ext cx="10515600" cy="1325563"/>
          </a:xfrm>
        </p:spPr>
        <p:txBody>
          <a:bodyPr/>
          <a:lstStyle/>
          <a:p>
            <a:r>
              <a:rPr lang="en-IN" dirty="0"/>
              <a:t>Proposed Methodology (4 slides)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E07930-8B33-417A-7801-630E1953E2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5"/>
            <a:ext cx="861543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source: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Twitter Sentiment Dataset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Tweets are labeled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sentiment classes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Neutral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noisy Twitter language such as: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emojis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hashtags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abbreviations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slang words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domain mentions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679E-007E-D471-E7FF-95A0F405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7822"/>
          </a:xfrm>
        </p:spPr>
        <p:txBody>
          <a:bodyPr/>
          <a:lstStyle/>
          <a:p>
            <a:r>
              <a:rPr lang="en-IN" dirty="0"/>
              <a:t>Data Cleaning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5DC69-262D-0528-711E-A5A7FCD3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737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sz="1600" dirty="0"/>
              <a:t>To reduce noise and improve model learning, preprocessing steps include:</a:t>
            </a:r>
          </a:p>
          <a:p>
            <a:r>
              <a:rPr lang="en-US" sz="1600" dirty="0"/>
              <a:t>Removal of:</a:t>
            </a:r>
          </a:p>
          <a:p>
            <a:pPr lvl="1"/>
            <a:r>
              <a:rPr lang="en-US" sz="1600" dirty="0"/>
              <a:t>URLs</a:t>
            </a:r>
          </a:p>
          <a:p>
            <a:pPr lvl="1"/>
            <a:r>
              <a:rPr lang="en-US" sz="1600" dirty="0"/>
              <a:t>user mentions (@user)</a:t>
            </a:r>
          </a:p>
          <a:p>
            <a:pPr lvl="1"/>
            <a:r>
              <a:rPr lang="en-US" sz="1600" dirty="0"/>
              <a:t>hashtag symbols (#)</a:t>
            </a:r>
          </a:p>
          <a:p>
            <a:pPr lvl="1"/>
            <a:r>
              <a:rPr lang="en-US" sz="1600" dirty="0"/>
              <a:t>numeric values</a:t>
            </a:r>
          </a:p>
          <a:p>
            <a:pPr lvl="1"/>
            <a:r>
              <a:rPr lang="en-US" sz="1600" dirty="0"/>
              <a:t>punctuation</a:t>
            </a:r>
          </a:p>
          <a:p>
            <a:pPr lvl="1"/>
            <a:r>
              <a:rPr lang="en-US" sz="1600" dirty="0"/>
              <a:t>special characters</a:t>
            </a:r>
          </a:p>
          <a:p>
            <a:pPr lvl="1"/>
            <a:r>
              <a:rPr lang="en-US" sz="1600" dirty="0"/>
              <a:t>extra whitespaces</a:t>
            </a:r>
          </a:p>
          <a:p>
            <a:r>
              <a:rPr lang="en-US" sz="1600" dirty="0"/>
              <a:t>Convert all text into lowercase</a:t>
            </a:r>
          </a:p>
          <a:p>
            <a:r>
              <a:rPr lang="en-US" sz="1600" dirty="0"/>
              <a:t>Tokenization of tweets</a:t>
            </a:r>
          </a:p>
          <a:p>
            <a:r>
              <a:rPr lang="en-US" sz="1600" dirty="0" err="1"/>
              <a:t>Stopword</a:t>
            </a:r>
            <a:r>
              <a:rPr lang="en-US" sz="1600" dirty="0"/>
              <a:t> removal</a:t>
            </a:r>
          </a:p>
          <a:p>
            <a:r>
              <a:rPr lang="en-US" sz="1600" dirty="0"/>
              <a:t>Lemmatization / Normalization</a:t>
            </a:r>
          </a:p>
          <a:p>
            <a:r>
              <a:rPr lang="en-US" sz="1600" dirty="0"/>
              <a:t>Emoji handling and mapping</a:t>
            </a:r>
          </a:p>
          <a:p>
            <a:r>
              <a:rPr lang="en-US" sz="1600" b="1" dirty="0"/>
              <a:t>Output</a:t>
            </a:r>
          </a:p>
          <a:p>
            <a:pPr marL="0" indent="0">
              <a:buNone/>
            </a:pPr>
            <a:r>
              <a:rPr lang="en-US" sz="1600" dirty="0"/>
              <a:t>Clean and normalized tweets suitable for feature extraction and modeling.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09235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2B04-AF3D-BAEE-B85D-B932ECFF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220746"/>
            <a:ext cx="10515600" cy="613443"/>
          </a:xfrm>
        </p:spPr>
        <p:txBody>
          <a:bodyPr>
            <a:normAutofit fontScale="90000"/>
          </a:bodyPr>
          <a:lstStyle/>
          <a:p>
            <a:r>
              <a:rPr lang="en-IN" dirty="0"/>
              <a:t>Feature Extraction Techniques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C8B3D4-CAEB-7122-500B-7D2513D834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5695" y="1087688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IN" sz="1600" dirty="0"/>
                  <a:t>The paper uses </a:t>
                </a:r>
                <a:r>
                  <a:rPr lang="en-IN" sz="1600" b="1" dirty="0"/>
                  <a:t>two major feature representations</a:t>
                </a:r>
                <a:r>
                  <a:rPr lang="en-IN" sz="1600" dirty="0"/>
                  <a:t>:</a:t>
                </a:r>
              </a:p>
              <a:p>
                <a:r>
                  <a:rPr lang="en-IN" sz="1600" b="1" dirty="0"/>
                  <a:t>1. TF-IDF (Term Frequency – Inverse Document Frequency)</a:t>
                </a:r>
              </a:p>
              <a:p>
                <a:pPr lvl="1"/>
                <a:r>
                  <a:rPr lang="en-IN" sz="1600" dirty="0"/>
                  <a:t>Used for traditional ML and TF-IDF based hybrid model</a:t>
                </a:r>
              </a:p>
              <a:p>
                <a:pPr lvl="1"/>
                <a:r>
                  <a:rPr lang="en-IN" sz="1600" dirty="0"/>
                  <a:t>Helps highlight important words by weighting terms</a:t>
                </a:r>
              </a:p>
              <a:p>
                <a:r>
                  <a:rPr lang="en-IN" sz="1600" dirty="0"/>
                  <a:t>TF-IDF formula (as in paper):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/>
                        <m:t>𝑇𝐹𝐼𝐷𝐹</m:t>
                      </m:r>
                      <m:d>
                        <m:dPr>
                          <m:sepChr m:val=","/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𝑎</m:t>
                          </m:r>
                        </m:e>
                        <m:e>
                          <m:r>
                            <a:rPr lang="ar-AE" sz="1600" i="1"/>
                            <m:t>𝑏</m:t>
                          </m:r>
                        </m:e>
                      </m:d>
                      <m:r>
                        <a:rPr lang="ar-AE" sz="1600"/>
                        <m:t>=</m:t>
                      </m:r>
                      <m:r>
                        <a:rPr lang="ar-AE" sz="1600" i="1"/>
                        <m:t>𝑓𝑟𝑒𝑞𝑢𝑒𝑛𝑐𝑦</m:t>
                      </m:r>
                      <m:d>
                        <m:dPr>
                          <m:sepChr m:val=","/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𝑎</m:t>
                          </m:r>
                        </m:e>
                        <m:e>
                          <m:r>
                            <a:rPr lang="ar-AE" sz="1600" i="1"/>
                            <m:t>𝑏</m:t>
                          </m:r>
                        </m:e>
                      </m:d>
                      <m:r>
                        <a:rPr lang="ar-AE" sz="1600"/>
                        <m:t>×</m:t>
                      </m:r>
                      <m:r>
                        <a:rPr lang="ar-AE" sz="1600" i="1"/>
                        <m:t>𝑙𝑜𝑔</m:t>
                      </m:r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f>
                            <m:fPr>
                              <m:ctrlPr>
                                <a:rPr lang="ar-AE" sz="1600" i="1"/>
                              </m:ctrlPr>
                            </m:fPr>
                            <m:num>
                              <m:r>
                                <a:rPr lang="ar-AE" sz="1600" i="1"/>
                                <m:t>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sz="1600" i="1"/>
                                  </m:ctrlPr>
                                </m:sSubPr>
                                <m:e>
                                  <m:r>
                                    <a:rPr lang="ar-AE" sz="1600" i="1"/>
                                    <m:t>𝑛</m:t>
                                  </m:r>
                                </m:e>
                                <m:sub>
                                  <m:r>
                                    <a:rPr lang="ar-AE" sz="1600" i="1"/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ar-AE" sz="1600" dirty="0"/>
              </a:p>
              <a:p>
                <a:r>
                  <a:rPr lang="en-IN" sz="1600" dirty="0"/>
                  <a:t>Where:</a:t>
                </a:r>
              </a:p>
              <a:p>
                <a:pPr lvl="1"/>
                <a:r>
                  <a:rPr lang="en-IN" sz="1600" dirty="0"/>
                  <a:t>a = term</a:t>
                </a:r>
              </a:p>
              <a:p>
                <a:pPr lvl="1"/>
                <a:r>
                  <a:rPr lang="en-IN" sz="1600" dirty="0"/>
                  <a:t>b = tweet</a:t>
                </a:r>
              </a:p>
              <a:p>
                <a:pPr lvl="1"/>
                <a:r>
                  <a:rPr lang="en-IN" sz="1600" dirty="0"/>
                  <a:t>n = total tweets</a:t>
                </a:r>
              </a:p>
              <a:p>
                <a:pPr lvl="1"/>
                <a:r>
                  <a:rPr lang="en-IN" sz="1600" dirty="0" err="1"/>
                  <a:t>nt</a:t>
                </a:r>
                <a:r>
                  <a:rPr lang="en-IN" sz="1600" dirty="0"/>
                  <a:t> = tweets containing term a</a:t>
                </a:r>
              </a:p>
              <a:p>
                <a:r>
                  <a:rPr lang="en-IN" sz="1600" b="1" dirty="0"/>
                  <a:t>2. Word2Vec Embeddings</a:t>
                </a:r>
              </a:p>
              <a:p>
                <a:pPr lvl="1"/>
                <a:r>
                  <a:rPr lang="en-IN" sz="1600" dirty="0"/>
                  <a:t>Used with LSTM-based hybrid model</a:t>
                </a:r>
              </a:p>
              <a:p>
                <a:pPr lvl="1"/>
                <a:r>
                  <a:rPr lang="en-IN" sz="1600" dirty="0"/>
                  <a:t>Converts words into dense vectors capturing semantic similarity</a:t>
                </a:r>
              </a:p>
              <a:p>
                <a:r>
                  <a:rPr lang="en-IN" sz="1600" b="1" dirty="0"/>
                  <a:t>Important Note</a:t>
                </a:r>
              </a:p>
              <a:p>
                <a:pPr marL="0" indent="0">
                  <a:buNone/>
                </a:pPr>
                <a:r>
                  <a:rPr lang="en-IN" sz="1600" dirty="0"/>
                  <a:t>Transformer model </a:t>
                </a:r>
                <a:r>
                  <a:rPr lang="en-IN" sz="1600" b="1" dirty="0" err="1"/>
                  <a:t>BERTweet</a:t>
                </a:r>
                <a:r>
                  <a:rPr lang="en-IN" sz="1600" b="1" dirty="0"/>
                  <a:t> does not require explicit feature extraction</a:t>
                </a:r>
                <a:r>
                  <a:rPr lang="en-IN" sz="1600" dirty="0"/>
                  <a:t> because it learns contextual embeddings directly.</a:t>
                </a:r>
              </a:p>
              <a:p>
                <a:endParaRPr lang="en-IN" sz="16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C8B3D4-CAEB-7122-500B-7D2513D83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5695" y="1087688"/>
                <a:ext cx="10515600" cy="4351338"/>
              </a:xfrm>
              <a:blipFill>
                <a:blip r:embed="rId2"/>
                <a:stretch>
                  <a:fillRect l="-348" t="-980" b="-250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642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43B4-8523-07E4-C0B8-145A9EF9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dirty="0"/>
              <a:t>MODEL TRAINING &amp;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DDEC-38E3-FFC0-CCCB-2C734E5A3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5" y="916447"/>
            <a:ext cx="10515600" cy="4351338"/>
          </a:xfrm>
        </p:spPr>
        <p:txBody>
          <a:bodyPr>
            <a:noAutofit/>
          </a:bodyPr>
          <a:lstStyle/>
          <a:p>
            <a:r>
              <a:rPr lang="en-IN" sz="1800" b="1" dirty="0"/>
              <a:t>Traditional Machine Learning Models (Baseline)</a:t>
            </a:r>
          </a:p>
          <a:p>
            <a:pPr lvl="1"/>
            <a:r>
              <a:rPr lang="en-IN" sz="1800" dirty="0"/>
              <a:t>Using TF-IDF features, three models were trained:</a:t>
            </a:r>
          </a:p>
          <a:p>
            <a:pPr lvl="2"/>
            <a:r>
              <a:rPr lang="en-IN" sz="1800" dirty="0"/>
              <a:t>Linear Regression (baseline classifier)</a:t>
            </a:r>
          </a:p>
          <a:p>
            <a:pPr lvl="2"/>
            <a:r>
              <a:rPr lang="en-IN" sz="1800" dirty="0"/>
              <a:t>Multinomial Naïve Bayes</a:t>
            </a:r>
          </a:p>
          <a:p>
            <a:pPr lvl="2"/>
            <a:r>
              <a:rPr lang="en-IN" sz="1800" dirty="0"/>
              <a:t>Support Vector Machine (SVM)</a:t>
            </a:r>
          </a:p>
          <a:p>
            <a:r>
              <a:rPr lang="en-IN" sz="1800" b="1" dirty="0"/>
              <a:t>Hybrid Models</a:t>
            </a:r>
          </a:p>
          <a:p>
            <a:r>
              <a:rPr lang="en-IN" sz="1800" dirty="0"/>
              <a:t>Hybrid models used to improve performance:</a:t>
            </a:r>
          </a:p>
          <a:p>
            <a:pPr lvl="1"/>
            <a:r>
              <a:rPr lang="en-IN" sz="1800" b="1" dirty="0"/>
              <a:t>Hybrid Model 1: TF-IDF + SVM</a:t>
            </a:r>
          </a:p>
          <a:p>
            <a:pPr lvl="2"/>
            <a:r>
              <a:rPr lang="en-IN" sz="1800" dirty="0"/>
              <a:t>Combines weighted lexical features with margin-based classification.</a:t>
            </a:r>
          </a:p>
          <a:p>
            <a:pPr lvl="2"/>
            <a:r>
              <a:rPr lang="en-IN" sz="1800" dirty="0"/>
              <a:t>Achieves better class separation.</a:t>
            </a:r>
          </a:p>
          <a:p>
            <a:pPr lvl="1"/>
            <a:r>
              <a:rPr lang="en-IN" sz="1800" b="1" dirty="0"/>
              <a:t>Hybrid Model 2: Word2Vec + LSTM</a:t>
            </a:r>
          </a:p>
          <a:p>
            <a:pPr lvl="2"/>
            <a:r>
              <a:rPr lang="en-IN" sz="1800" dirty="0"/>
              <a:t>Word2Vec provides semantic dense vectors.</a:t>
            </a:r>
          </a:p>
          <a:p>
            <a:pPr lvl="2"/>
            <a:r>
              <a:rPr lang="en-IN" sz="1800" dirty="0"/>
              <a:t>LSTM captures sequential context of words.</a:t>
            </a:r>
          </a:p>
          <a:p>
            <a:r>
              <a:rPr lang="en-IN" sz="1800" b="1" dirty="0"/>
              <a:t>Deep Learning Model</a:t>
            </a:r>
          </a:p>
          <a:p>
            <a:pPr lvl="1"/>
            <a:r>
              <a:rPr lang="en-IN" sz="1800" dirty="0"/>
              <a:t>Separate LSTM model implemented for sequence learning.</a:t>
            </a:r>
          </a:p>
          <a:p>
            <a:r>
              <a:rPr lang="en-IN" sz="1800" b="1" dirty="0"/>
              <a:t>Transformer Model</a:t>
            </a:r>
          </a:p>
          <a:p>
            <a:pPr lvl="1"/>
            <a:r>
              <a:rPr lang="en-IN" sz="1800" dirty="0"/>
              <a:t>Fine-tuned </a:t>
            </a:r>
            <a:r>
              <a:rPr lang="en-IN" sz="1800" b="1" dirty="0" err="1"/>
              <a:t>BERTweet</a:t>
            </a:r>
            <a:r>
              <a:rPr lang="en-IN" sz="1800" dirty="0"/>
              <a:t> pretrained on large-scale Twitter corpus.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57642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Model Performance </a:t>
            </a:r>
            <a:r>
              <a:rPr lang="en-IN" dirty="0" err="1"/>
              <a:t>Comparsion</a:t>
            </a:r>
            <a:r>
              <a:rPr lang="en-IN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44E0D2-83C8-A9F0-91CE-2E154971791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646989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405869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076066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23604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872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Linear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83.6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5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Naïve Bayes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81.9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81.2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508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241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TF-IDF + 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831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Word2Vec + 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89.3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050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LSTM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87.4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042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BERTweet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91.57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90.4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90.1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166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1EEBF6E-2BDA-2878-382A-EA08A714C3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973354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complete sentiment classification framework using: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ML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models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Transformer-based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BERTweet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maximum accuracy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91.57%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BERTweet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implemented explainability using SHAP to interpret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that transformer-based models outperform traditional and hybrid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is drafted and submitted in the conference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0B6379-A5C3-EA77-80FF-76093055D8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739137"/>
            <a:ext cx="10515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Qi, Y. and Shabrina, Z., Sentiment Analysis using Twitter Data,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Bello, A. et al., BERT Framework for Sentiment Analysis of Tweets,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Vaswani et al., Attention is All You Need,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NeurIPS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2017.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Lundberg &amp; Lee, SHAP Explainability,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NeurIPS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2017.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Nguyen et al.,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BERTweet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EMNLP 2020.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1050</Words>
  <Application>Microsoft Office PowerPoint</Application>
  <PresentationFormat>Widescreen</PresentationFormat>
  <Paragraphs>217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&lt;Sentimental Analysis of Twitter Data&gt;</vt:lpstr>
      <vt:lpstr>Outline</vt:lpstr>
      <vt:lpstr>Introduction</vt:lpstr>
      <vt:lpstr>.</vt:lpstr>
      <vt:lpstr>Literature Review</vt:lpstr>
      <vt:lpstr>.</vt:lpstr>
      <vt:lpstr>.</vt:lpstr>
      <vt:lpstr>Problem Statement</vt:lpstr>
      <vt:lpstr>Objectives</vt:lpstr>
      <vt:lpstr>Proposed Methodology (4 slides)</vt:lpstr>
      <vt:lpstr>Data Cleaning and Preprocessing</vt:lpstr>
      <vt:lpstr>Feature Extraction Techniques</vt:lpstr>
      <vt:lpstr>MODEL TRAINING &amp; APPROACHES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mahi agrawal</cp:lastModifiedBy>
  <cp:revision>9</cp:revision>
  <dcterms:created xsi:type="dcterms:W3CDTF">2025-09-29T05:03:41Z</dcterms:created>
  <dcterms:modified xsi:type="dcterms:W3CDTF">2026-02-14T20:44:03Z</dcterms:modified>
</cp:coreProperties>
</file>